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D0D6B"/>
          </a:solidFill>
          <a:ln w="12700">
            <a:solidFill>
              <a:srgbClr val="0D0D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A1A9A"/>
          </a:solidFill>
          <a:ln w="12700">
            <a:solidFill>
              <a:srgbClr val="1A1A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5943600" cy="731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926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Factory × SSI AXA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IA4DueDil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de Pilotage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Aligner l'IA et la Sécurité de l'Information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automatiser la Due Diligence SSI.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 #1  ·  Mars 2025  ·  Version 1.0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21031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de Projet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Céline ALBY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0" y="30175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IA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Ibrahim EL ABDI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38404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SSI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Gilles MADI WAMBA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ORDRE DU JOUR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78992"/>
            <a:ext cx="530352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078992"/>
            <a:ext cx="6675120" cy="45720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Nécessité opérationnelle du projet IA4DueDil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09560" y="107899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577340"/>
            <a:ext cx="8412480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577340"/>
            <a:ext cx="530352" cy="45720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57734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15773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— Avancement Phase 1 (Kickoff)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09560" y="15773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075688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075688"/>
            <a:ext cx="530352" cy="45720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75688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075688"/>
            <a:ext cx="6675120" cy="45720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Clarifications Besoins &amp; Exigences métiers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09560" y="207568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74036"/>
            <a:ext cx="8412480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574036"/>
            <a:ext cx="530352" cy="45720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574036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2574036"/>
            <a:ext cx="6675120" cy="45720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Données — Variabilité &amp; Points de vigilance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09560" y="2574036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072384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072384"/>
            <a:ext cx="530352" cy="45720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072384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3072384"/>
            <a:ext cx="6675120" cy="45720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Organisation, Gouvernance &amp; Rituels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909560" y="3072384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570732"/>
            <a:ext cx="8412480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570732"/>
            <a:ext cx="530352" cy="45720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570732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05840" y="3570732"/>
            <a:ext cx="6675120" cy="45720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5 phases &amp; Jalons clés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909560" y="357073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4069080"/>
            <a:ext cx="530352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6908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05840" y="40690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à arbitrer — Décisions requises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909560" y="406908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4567428"/>
            <a:ext cx="8412480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4567428"/>
            <a:ext cx="530352" cy="45720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567428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005840" y="4567428"/>
            <a:ext cx="6675120" cy="45720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 &amp; Clôture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909560" y="456742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0" cy="9601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CONTEXTE — Pourquoi IA4DueDil est une nécessité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069080" cy="3657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PROBLÈME ACTUEL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36192"/>
            <a:ext cx="40690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536192"/>
            <a:ext cx="1097280" cy="786384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36192"/>
            <a:ext cx="1097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100–200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54480" y="1536192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exigences à analyser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manuellement par dossier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386584"/>
            <a:ext cx="40690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386584"/>
            <a:ext cx="1097280" cy="786384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86584"/>
            <a:ext cx="1097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Multi-formats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2386584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Excel, images,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URL, Word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236976"/>
            <a:ext cx="40690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236976"/>
            <a:ext cx="1097280" cy="786384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36976"/>
            <a:ext cx="1097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Risque élevé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54480" y="3236976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manquantes ou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ambiguës non détectées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087368"/>
            <a:ext cx="40690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087368"/>
            <a:ext cx="1097280" cy="786384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87368"/>
            <a:ext cx="1097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Temps analyste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54480" y="4087368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critique SSI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scalable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1078992"/>
            <a:ext cx="4069080" cy="36576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SOLUTION IA4DueDil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1536192"/>
            <a:ext cx="4069080" cy="786384"/>
          </a:xfrm>
          <a:prstGeom prst="rect">
            <a:avLst/>
          </a:prstGeom>
          <a:solidFill>
            <a:srgbClr val="EAF2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1536192"/>
            <a:ext cx="1097280" cy="786384"/>
          </a:xfrm>
          <a:prstGeom prst="rect">
            <a:avLst/>
          </a:prstGeom>
          <a:solidFill>
            <a:srgbClr val="2E9E55"/>
          </a:solidFill>
          <a:ln w="12700">
            <a:solidFill>
              <a:srgbClr val="2E9E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536192"/>
            <a:ext cx="1097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97880" y="1536192"/>
            <a:ext cx="2788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Pré-analyse automatique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conformité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09160" y="2386584"/>
            <a:ext cx="4069080" cy="786384"/>
          </a:xfrm>
          <a:prstGeom prst="rect">
            <a:avLst/>
          </a:prstGeom>
          <a:solidFill>
            <a:srgbClr val="EAF2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2386584"/>
            <a:ext cx="1097280" cy="786384"/>
          </a:xfrm>
          <a:prstGeom prst="rect">
            <a:avLst/>
          </a:prstGeom>
          <a:solidFill>
            <a:srgbClr val="2E9E55"/>
          </a:solidFill>
          <a:ln w="12700">
            <a:solidFill>
              <a:srgbClr val="2E9E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386584"/>
            <a:ext cx="1097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Détection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97880" y="2386584"/>
            <a:ext cx="2788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immédiate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preuves manquantes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09160" y="3236976"/>
            <a:ext cx="4069080" cy="786384"/>
          </a:xfrm>
          <a:prstGeom prst="rect">
            <a:avLst/>
          </a:prstGeom>
          <a:solidFill>
            <a:srgbClr val="EAF2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3236976"/>
            <a:ext cx="1097280" cy="786384"/>
          </a:xfrm>
          <a:prstGeom prst="rect">
            <a:avLst/>
          </a:prstGeom>
          <a:solidFill>
            <a:srgbClr val="2E9E55"/>
          </a:solidFill>
          <a:ln w="12700">
            <a:solidFill>
              <a:srgbClr val="2E9E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236976"/>
            <a:ext cx="1097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Ciblage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97880" y="3236976"/>
            <a:ext cx="2788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ciblées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 sous-traitant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09160" y="4087368"/>
            <a:ext cx="4069080" cy="786384"/>
          </a:xfrm>
          <a:prstGeom prst="rect">
            <a:avLst/>
          </a:prstGeom>
          <a:solidFill>
            <a:srgbClr val="EAF2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4087368"/>
            <a:ext cx="1097280" cy="786384"/>
          </a:xfrm>
          <a:prstGeom prst="rect">
            <a:avLst/>
          </a:prstGeom>
          <a:solidFill>
            <a:srgbClr val="2E9E55"/>
          </a:solidFill>
          <a:ln w="12700">
            <a:solidFill>
              <a:srgbClr val="2E9E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4087368"/>
            <a:ext cx="1097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Aide décision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897880" y="4087368"/>
            <a:ext cx="2788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structuré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l'analyste SSI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0" cy="9601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TABLEAU DE BORD — Avancement Phase 1 (Kickoff)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78992"/>
            <a:ext cx="1965960" cy="146304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43584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/ 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181051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actuelle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07568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Kickoff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87168" y="1078992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87168" y="1078992"/>
            <a:ext cx="1965960" cy="14630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243584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90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487168" y="181051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Avancement global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87168" y="207568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Phase 1 en cours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08576" y="1078992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08576" y="1078992"/>
            <a:ext cx="1965960" cy="146304"/>
          </a:xfrm>
          <a:prstGeom prst="rect">
            <a:avLst/>
          </a:prstGeom>
          <a:solidFill>
            <a:srgbClr val="2E9E55"/>
          </a:solidFill>
          <a:ln w="12700">
            <a:solidFill>
              <a:srgbClr val="2E9E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8576" y="1243584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9E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/ 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608576" y="181051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Jalons validés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08576" y="207568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 cours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29984" y="1078992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29984" y="1078992"/>
            <a:ext cx="1965960" cy="14630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9984" y="1243584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539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729984" y="181051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actifs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29984" y="207568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1 critique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2487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Avancement par phase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2834640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Project Kickoff (en cours)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072384"/>
            <a:ext cx="5943600" cy="13716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072384"/>
            <a:ext cx="4457700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303580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3264408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Data Understanding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502152"/>
            <a:ext cx="5943600" cy="13716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346557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3694176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Initial POC Conception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3931920"/>
            <a:ext cx="5943600" cy="13716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389534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" y="4123944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Business Refinement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4361688"/>
            <a:ext cx="5943600" cy="13716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432511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455371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Iterative Refinement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4791456"/>
            <a:ext cx="5943600" cy="13716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4754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132320" y="2487168"/>
            <a:ext cx="1645920" cy="27432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2320" y="2487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JALONS P1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132320" y="2834640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32320" y="283464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9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479792" y="283464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 de lancement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132320" y="3264408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32320" y="3264408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9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479792" y="3264408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Alignement équipes AI/SSI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132320" y="3694176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32320" y="3694176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479792" y="3694176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données validé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0" cy="9601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CLARIFICATIONS — Besoins &amp; Exigences Métiers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Matrice d'exigences clés &amp; attentes de conformité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8412480" cy="347472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Exigence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37360" y="1463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1463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Priorité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94960" y="14630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Preuve attendue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0" y="1463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Statut outil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828800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828800"/>
            <a:ext cx="1280160" cy="43891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accès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37360" y="18288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accès utilisateurs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60520" y="1901952"/>
            <a:ext cx="1078992" cy="292608"/>
          </a:xfrm>
          <a:prstGeom prst="rect">
            <a:avLst/>
          </a:prstGeom>
          <a:solidFill>
            <a:srgbClr val="2E9E55"/>
          </a:solidFill>
          <a:ln w="12700">
            <a:solidFill>
              <a:srgbClr val="2E9E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0" y="190195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94960" y="1828800"/>
            <a:ext cx="1600200" cy="43891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sécurité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26680" y="1920240"/>
            <a:ext cx="256032" cy="256032"/>
          </a:xfrm>
          <a:prstGeom prst="ellipse">
            <a:avLst/>
          </a:prstGeom>
          <a:solidFill>
            <a:srgbClr val="2E9E55"/>
          </a:solidFill>
          <a:ln w="12700">
            <a:solidFill>
              <a:srgbClr val="2E9E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28432" y="1828800"/>
            <a:ext cx="6217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313432"/>
            <a:ext cx="8412480" cy="438912"/>
          </a:xfrm>
          <a:prstGeom prst="rect">
            <a:avLst/>
          </a:prstGeom>
          <a:solidFill>
            <a:srgbClr val="D6E4F7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313432"/>
            <a:ext cx="1280160" cy="43891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37360" y="23134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transit &amp; repos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60520" y="2386584"/>
            <a:ext cx="1078992" cy="292608"/>
          </a:xfrm>
          <a:prstGeom prst="rect">
            <a:avLst/>
          </a:prstGeom>
          <a:solidFill>
            <a:srgbClr val="2E9E55"/>
          </a:solidFill>
          <a:ln w="12700">
            <a:solidFill>
              <a:srgbClr val="2E9E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60520" y="238658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94960" y="2313432"/>
            <a:ext cx="1600200" cy="43891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architecture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26680" y="2404872"/>
            <a:ext cx="256032" cy="256032"/>
          </a:xfrm>
          <a:prstGeom prst="ellipse">
            <a:avLst/>
          </a:prstGeom>
          <a:solidFill>
            <a:srgbClr val="2E9E55"/>
          </a:solidFill>
          <a:ln w="12700">
            <a:solidFill>
              <a:srgbClr val="2E9E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28432" y="2313432"/>
            <a:ext cx="6217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2798064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798064"/>
            <a:ext cx="1280160" cy="43891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continuité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737360" y="2798064"/>
            <a:ext cx="2286000" cy="43891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PCA/PRA documenté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60520" y="2871216"/>
            <a:ext cx="1078992" cy="292608"/>
          </a:xfrm>
          <a:prstGeom prst="rect">
            <a:avLst/>
          </a:prstGeom>
          <a:solidFill>
            <a:srgbClr val="2E9E55"/>
          </a:solidFill>
          <a:ln w="12700">
            <a:solidFill>
              <a:srgbClr val="2E9E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60520" y="2871216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94960" y="2798064"/>
            <a:ext cx="1600200" cy="43891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PCA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26680" y="2889504"/>
            <a:ext cx="256032" cy="256032"/>
          </a:xfrm>
          <a:prstGeom prst="ellipse">
            <a:avLst/>
          </a:prstGeom>
          <a:solidFill>
            <a:srgbClr val="2E9E55"/>
          </a:solidFill>
          <a:ln w="12700">
            <a:solidFill>
              <a:srgbClr val="2E9E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28432" y="2798064"/>
            <a:ext cx="6217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282696"/>
            <a:ext cx="8412480" cy="438912"/>
          </a:xfrm>
          <a:prstGeom prst="rect">
            <a:avLst/>
          </a:prstGeom>
          <a:solidFill>
            <a:srgbClr val="D6E4F7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282696"/>
            <a:ext cx="1280160" cy="43891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737360" y="3282696"/>
            <a:ext cx="2286000" cy="43891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équivalente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160520" y="3355848"/>
            <a:ext cx="1078992" cy="2926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60520" y="335584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94960" y="3282696"/>
            <a:ext cx="1600200" cy="43891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726680" y="3374136"/>
            <a:ext cx="256032" cy="256032"/>
          </a:xfrm>
          <a:prstGeom prst="ellipse">
            <a:avLst/>
          </a:prstGeom>
          <a:solidFill>
            <a:srgbClr val="2E9E55"/>
          </a:solidFill>
          <a:ln w="12700">
            <a:solidFill>
              <a:srgbClr val="2E9E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28432" y="3282696"/>
            <a:ext cx="6217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3767328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767328"/>
            <a:ext cx="1280160" cy="43891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Vulnérabilités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737360" y="37673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de patching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160520" y="3840480"/>
            <a:ext cx="1078992" cy="292608"/>
          </a:xfrm>
          <a:prstGeom prst="rect">
            <a:avLst/>
          </a:prstGeom>
          <a:solidFill>
            <a:srgbClr val="2E9E55"/>
          </a:solidFill>
          <a:ln w="12700">
            <a:solidFill>
              <a:srgbClr val="2E9E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60520" y="384048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394960" y="3767328"/>
            <a:ext cx="1600200" cy="43891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 écrite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726680" y="3858768"/>
            <a:ext cx="256032" cy="256032"/>
          </a:xfrm>
          <a:prstGeom prst="ellipse">
            <a:avLst/>
          </a:prstGeom>
          <a:solidFill>
            <a:srgbClr val="2E9E55"/>
          </a:solidFill>
          <a:ln w="12700">
            <a:solidFill>
              <a:srgbClr val="2E9E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28432" y="3767328"/>
            <a:ext cx="6217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4407408"/>
            <a:ext cx="8412480" cy="475488"/>
          </a:xfrm>
          <a:prstGeom prst="rect">
            <a:avLst/>
          </a:prstGeom>
          <a:solidFill>
            <a:srgbClr val="EAF2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44074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⚓  Point d'ancrage stratégique : L'outil sera utilisé pour la compliance finale, et non uniquement comme filtre de shortlisting. Périmètre à confirmer ce jour.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0" cy="9601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 DONNÉES — Variabilité &amp; Points de vigilance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Cartographie des sources de preuves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685800" cy="804672"/>
          </a:xfrm>
          <a:prstGeom prst="rect">
            <a:avLst/>
          </a:prstGeom>
          <a:solidFill>
            <a:srgbClr val="D6E4F7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51790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1792224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Mises en page complexes, tableaux multi-pages, filigranes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7744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685800" cy="804672"/>
          </a:xfrm>
          <a:prstGeom prst="rect">
            <a:avLst/>
          </a:prstGeom>
          <a:solidFill>
            <a:srgbClr val="D6E4F7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243230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2706624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non standardisé, saisie utilisateur variable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2918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9184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🖼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685800" cy="804672"/>
          </a:xfrm>
          <a:prstGeom prst="rect">
            <a:avLst/>
          </a:prstGeom>
          <a:solidFill>
            <a:srgbClr val="D6E4F7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334670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621024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SSL Labs, schémas d'architecture illisibles en texte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4630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46304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✉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709160" y="1463040"/>
            <a:ext cx="685800" cy="804672"/>
          </a:xfrm>
          <a:prstGeom prst="rect">
            <a:avLst/>
          </a:prstGeom>
          <a:solidFill>
            <a:srgbClr val="D6E4F7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151790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Emails (.msg)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0" y="1792224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d'activité dans les dossiers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23774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37744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4709160" y="2377440"/>
            <a:ext cx="685800" cy="804672"/>
          </a:xfrm>
          <a:prstGeom prst="rect">
            <a:avLst/>
          </a:prstGeom>
          <a:solidFill>
            <a:srgbClr val="D6E4F7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243230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URL / Web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0" y="2706624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via Google Drive, sites externes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32918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29184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4709160" y="3291840"/>
            <a:ext cx="685800" cy="804672"/>
          </a:xfrm>
          <a:prstGeom prst="rect">
            <a:avLst/>
          </a:prstGeom>
          <a:solidFill>
            <a:srgbClr val="D6E4F7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334670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/ Text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0" y="3621024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Procédures internes parfois très résumées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315968"/>
            <a:ext cx="8412480" cy="594360"/>
          </a:xfrm>
          <a:prstGeom prst="rect">
            <a:avLst/>
          </a:prstGeom>
          <a:solidFill>
            <a:srgbClr val="FFF3E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3159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Points de vigilance globaux  ·  Compliance temporelle (dates certificats)  ·  Mémoire contextuelle requise (exigences liées entre elles)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0" cy="9601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ORGANISATION, GOUVERNANCE &amp; RITUELS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2697480" cy="50292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(Les Acteurs)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73352"/>
            <a:ext cx="2697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673352"/>
            <a:ext cx="73152" cy="59436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709928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Bid Lead / Décision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2064" y="194767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ALBY Céline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2697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331720"/>
            <a:ext cx="73152" cy="59436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368296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Expert SSI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" y="2606040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MADI WAMBA Gilles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90088"/>
            <a:ext cx="2697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990088"/>
            <a:ext cx="73152" cy="59436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3026664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Développeur IA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2064" y="326440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ABDI Ibrahim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648456"/>
            <a:ext cx="2697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648456"/>
            <a:ext cx="73152" cy="59436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3685032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Approbation finale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" y="392277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NAULOT Vincent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306824"/>
            <a:ext cx="2697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306824"/>
            <a:ext cx="73152" cy="59436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" y="4343400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Sponsors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" y="4581144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Factory AXA + SSI AXA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64408" y="1078992"/>
            <a:ext cx="2697480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64408" y="107899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Gouvernance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(Les Processus)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64408" y="1673352"/>
            <a:ext cx="2697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64408" y="1673352"/>
            <a:ext cx="73152" cy="5943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1709928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technique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10712" y="194767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Gilles + Ibrahim (escalade → Céline)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64408" y="2331720"/>
            <a:ext cx="2697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64408" y="2331720"/>
            <a:ext cx="73152" cy="5943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10712" y="2368296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Approbation finale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410712" y="2606040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Vincent NAULOT + Céline ALBY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64408" y="2990088"/>
            <a:ext cx="2697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64408" y="2990088"/>
            <a:ext cx="73152" cy="5943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10712" y="3026664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Gestion des risques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410712" y="326440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Factory, affinée par Céline &amp; Vincent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64408" y="3648456"/>
            <a:ext cx="2697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64408" y="3648456"/>
            <a:ext cx="73152" cy="5943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10712" y="3685032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Canaux officiels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410712" y="392277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· SharePoint · Outlook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63056" y="1078992"/>
            <a:ext cx="2697480" cy="502920"/>
          </a:xfrm>
          <a:prstGeom prst="rect">
            <a:avLst/>
          </a:prstGeom>
          <a:solidFill>
            <a:srgbClr val="2E9E55"/>
          </a:solidFill>
          <a:ln w="12700">
            <a:solidFill>
              <a:srgbClr val="2E9E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63056" y="107899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Rituels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(Le Rythme)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163056" y="1673352"/>
            <a:ext cx="2697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63056" y="1673352"/>
            <a:ext cx="73152" cy="594360"/>
          </a:xfrm>
          <a:prstGeom prst="rect">
            <a:avLst/>
          </a:prstGeom>
          <a:solidFill>
            <a:srgbClr val="2E9E55"/>
          </a:solidFill>
          <a:ln w="12700">
            <a:solidFill>
              <a:srgbClr val="2E9E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9360" y="1709928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Synchronisation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309360" y="194767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meetings — suivi strict avancement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163056" y="2331720"/>
            <a:ext cx="2697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63056" y="2331720"/>
            <a:ext cx="73152" cy="594360"/>
          </a:xfrm>
          <a:prstGeom prst="rect">
            <a:avLst/>
          </a:prstGeom>
          <a:solidFill>
            <a:srgbClr val="2E9E55"/>
          </a:solidFill>
          <a:ln w="12700">
            <a:solidFill>
              <a:srgbClr val="2E9E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9360" y="2368296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Suivi tâches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309360" y="2606040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partagé ou outil PM (choix final → Céline)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163056" y="2990088"/>
            <a:ext cx="2697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163056" y="2990088"/>
            <a:ext cx="73152" cy="594360"/>
          </a:xfrm>
          <a:prstGeom prst="rect">
            <a:avLst/>
          </a:prstGeom>
          <a:solidFill>
            <a:srgbClr val="2E9E55"/>
          </a:solidFill>
          <a:ln w="12700">
            <a:solidFill>
              <a:srgbClr val="2E9E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9360" y="3026664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Documentation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309360" y="326440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Alignée normes qualité AI Factory AXA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0" cy="9601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— Déploiement IA4DueDil en 5 Phases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2578608"/>
            <a:ext cx="7955280" cy="73152"/>
          </a:xfrm>
          <a:prstGeom prst="rect">
            <a:avLst/>
          </a:prstGeom>
          <a:solidFill>
            <a:srgbClr val="C5D5E8"/>
          </a:solidFill>
          <a:ln w="12700">
            <a:solidFill>
              <a:srgbClr val="C5D5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78992"/>
            <a:ext cx="1508760" cy="1417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1556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Kickoff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2532888"/>
            <a:ext cx="502920" cy="1828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587752"/>
            <a:ext cx="1508760" cy="2743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877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944368"/>
            <a:ext cx="1508760" cy="1051560"/>
          </a:xfrm>
          <a:prstGeom prst="rect">
            <a:avLst/>
          </a:prstGeom>
          <a:solidFill>
            <a:srgbClr val="EAF2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999232"/>
            <a:ext cx="137160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understanding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agreed-upon setup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39112" y="1078992"/>
            <a:ext cx="15087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A0B8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39112" y="111556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0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039112" y="15087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42032" y="2532888"/>
            <a:ext cx="502920" cy="182880"/>
          </a:xfrm>
          <a:prstGeom prst="rect">
            <a:avLst/>
          </a:prstGeom>
          <a:solidFill>
            <a:srgbClr val="A0B8D8"/>
          </a:solidFill>
          <a:ln w="12700">
            <a:solidFill>
              <a:srgbClr val="A0B8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39112" y="2587752"/>
            <a:ext cx="1508760" cy="274320"/>
          </a:xfrm>
          <a:prstGeom prst="rect">
            <a:avLst/>
          </a:prstGeom>
          <a:solidFill>
            <a:srgbClr val="E8EEF4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39112" y="25877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VENIR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039112" y="2944368"/>
            <a:ext cx="1508760" cy="1051560"/>
          </a:xfrm>
          <a:prstGeom prst="rect">
            <a:avLst/>
          </a:prstGeom>
          <a:solidFill>
            <a:srgbClr val="EAF2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12264" y="2999232"/>
            <a:ext cx="137160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détaillés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pain points identifiés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12464" y="1078992"/>
            <a:ext cx="15087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7A9E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12464" y="111556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A9E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712464" y="15087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Initial POC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15384" y="2532888"/>
            <a:ext cx="502920" cy="182880"/>
          </a:xfrm>
          <a:prstGeom prst="rect">
            <a:avLst/>
          </a:prstGeom>
          <a:solidFill>
            <a:srgbClr val="7A9EC0"/>
          </a:solidFill>
          <a:ln w="12700">
            <a:solidFill>
              <a:srgbClr val="7A9E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12464" y="2587752"/>
            <a:ext cx="1508760" cy="274320"/>
          </a:xfrm>
          <a:prstGeom prst="rect">
            <a:avLst/>
          </a:prstGeom>
          <a:solidFill>
            <a:srgbClr val="E8EEF4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12464" y="25877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VENIR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712464" y="2944368"/>
            <a:ext cx="1508760" cy="1051560"/>
          </a:xfrm>
          <a:prstGeom prst="rect">
            <a:avLst/>
          </a:prstGeom>
          <a:solidFill>
            <a:srgbClr val="EAF2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85616" y="2999232"/>
            <a:ext cx="137160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technique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design document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85816" y="1078992"/>
            <a:ext cx="15087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4A6E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85816" y="111556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6E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385816" y="15087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Refinement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88736" y="2532888"/>
            <a:ext cx="502920" cy="182880"/>
          </a:xfrm>
          <a:prstGeom prst="rect">
            <a:avLst/>
          </a:prstGeom>
          <a:solidFill>
            <a:srgbClr val="4A6EA0"/>
          </a:solidFill>
          <a:ln w="12700">
            <a:solidFill>
              <a:srgbClr val="4A6EA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85816" y="2587752"/>
            <a:ext cx="1508760" cy="274320"/>
          </a:xfrm>
          <a:prstGeom prst="rect">
            <a:avLst/>
          </a:prstGeom>
          <a:solidFill>
            <a:srgbClr val="E8EEF4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85816" y="25877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VENIR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385816" y="2944368"/>
            <a:ext cx="1508760" cy="1051560"/>
          </a:xfrm>
          <a:prstGeom prst="rect">
            <a:avLst/>
          </a:prstGeom>
          <a:solidFill>
            <a:srgbClr val="EAF2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58968" y="2999232"/>
            <a:ext cx="137160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raffiné via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métier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059168" y="1078992"/>
            <a:ext cx="15087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8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59168" y="111556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7059168" y="15087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Iterative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Refinement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562088" y="2532888"/>
            <a:ext cx="502920" cy="18288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59168" y="2587752"/>
            <a:ext cx="1508760" cy="274320"/>
          </a:xfrm>
          <a:prstGeom prst="rect">
            <a:avLst/>
          </a:prstGeom>
          <a:solidFill>
            <a:srgbClr val="E8EEF4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59168" y="25877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VENIR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059168" y="2944368"/>
            <a:ext cx="1508760" cy="1051560"/>
          </a:xfrm>
          <a:prstGeom prst="rect">
            <a:avLst/>
          </a:prstGeom>
          <a:solidFill>
            <a:srgbClr val="EAF2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32320" y="2999232"/>
            <a:ext cx="137160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robuste &amp; bid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final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411480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" y="4114800"/>
            <a:ext cx="73152" cy="7498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4114800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Nous sommes ici — Phase 1 : Kickoff  |  Objectif : Shared understanding &amp; aligned setup  |  Durée estimée : 2 semaines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0" cy="9601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RISQUES &amp; POINTS DE VIGILANCE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347472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384048" cy="3474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078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Risque identifié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17720" y="1078992"/>
            <a:ext cx="960120" cy="3474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23560" y="1078992"/>
            <a:ext cx="804672" cy="3474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92240" y="1078992"/>
            <a:ext cx="640080" cy="3474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78040" y="1078992"/>
            <a:ext cx="1508760" cy="3474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de mitigation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490472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490472"/>
            <a:ext cx="384048" cy="8046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490472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5528" y="1490472"/>
            <a:ext cx="3703320" cy="8046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aux données et questionnaires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non encore validé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36008" y="1490472"/>
            <a:ext cx="914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41848" y="1490472"/>
            <a:ext cx="7498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10528" y="1719072"/>
            <a:ext cx="594360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171907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205472" y="1490472"/>
            <a:ext cx="1417320" cy="8046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J+5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Céline + DSI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359152"/>
            <a:ext cx="8412480" cy="804672"/>
          </a:xfrm>
          <a:prstGeom prst="rect">
            <a:avLst/>
          </a:prstGeom>
          <a:solidFill>
            <a:srgbClr val="D6E4F7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359152"/>
            <a:ext cx="384048" cy="80467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359152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5528" y="2359152"/>
            <a:ext cx="3703320" cy="8046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outil non arrêté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(compliance finale vs shortlisting)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36008" y="2359152"/>
            <a:ext cx="914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41848" y="2359152"/>
            <a:ext cx="7498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10528" y="2587752"/>
            <a:ext cx="594360" cy="34747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0528" y="258775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205472" y="2359152"/>
            <a:ext cx="1417320" cy="8046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jour (COPIL)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227832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227832"/>
            <a:ext cx="384048" cy="80467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227832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95528" y="3227832"/>
            <a:ext cx="3703320" cy="8046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&amp; variabilité des données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d'entraînement NLP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36008" y="3227832"/>
            <a:ext cx="914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41848" y="3227832"/>
            <a:ext cx="7498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10528" y="3456432"/>
            <a:ext cx="594360" cy="34747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10528" y="345643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205472" y="3227832"/>
            <a:ext cx="1417320" cy="8046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données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096512"/>
            <a:ext cx="8412480" cy="804672"/>
          </a:xfrm>
          <a:prstGeom prst="rect">
            <a:avLst/>
          </a:prstGeom>
          <a:solidFill>
            <a:srgbClr val="D6E4F7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4096512"/>
            <a:ext cx="384048" cy="80467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95528" y="4096512"/>
            <a:ext cx="3703320" cy="8046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Procédures échange sous-traitants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clarifiées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36008" y="4096512"/>
            <a:ext cx="914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641848" y="4096512"/>
            <a:ext cx="7498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510528" y="4325112"/>
            <a:ext cx="594360" cy="34747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0528" y="432511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JAUNE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205472" y="4096512"/>
            <a:ext cx="1417320" cy="8046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0" cy="9601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POINTS À ARBITRER — Décisions requises ce jour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78992"/>
            <a:ext cx="502920" cy="124358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78992"/>
            <a:ext cx="5029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9264" y="113385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Accès aux données &amp; questionnaires exemples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9264" y="14081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accès aux données SSI réelles, la Phase 2 (Data Understanding) ne peut pas démarrer. Risque de décalage planning.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9264" y="1682496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Accès SSI validé sous 5 jours (via DSI + Céline)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Utilisation de données synthétiques en attendant (impact qualité Phase 3)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06640" y="1810512"/>
            <a:ext cx="1325880" cy="384048"/>
          </a:xfrm>
          <a:prstGeom prst="rect">
            <a:avLst/>
          </a:prstGeom>
          <a:solidFill>
            <a:srgbClr val="2E9E55"/>
          </a:solidFill>
          <a:ln w="12700">
            <a:solidFill>
              <a:srgbClr val="2E9E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181051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: Option 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395728"/>
            <a:ext cx="841248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395728"/>
            <a:ext cx="502920" cy="124358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95728"/>
            <a:ext cx="5029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9264" y="24505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Confirmation du périmètre outil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9264" y="27249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L'outil doit-il couvrir uniquement la compliance finale, ou aussi le shortlisting initial des sous-traitants 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9264" y="299923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Compliance finale uniquement (périmètre restreint, livraison plus rapide)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Compliance + Shortlisting (périmètre élargi, +2 semaines estimées)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06640" y="3127248"/>
            <a:ext cx="132588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31272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COPIL requise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712464"/>
            <a:ext cx="841248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712464"/>
            <a:ext cx="502920" cy="1243584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712464"/>
            <a:ext cx="5029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9264" y="37673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Outil de tracking projet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9264" y="40416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outil PM commun défini à ce stade. Risque de désynchronisation entre AI Factory et SSI AXA.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9264" y="431596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Document partagé SharePoint (simple, immédiat)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Outil PM dédié ex. Planner/Jira (plus robuste, configuration nécessaire)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06640" y="4443984"/>
            <a:ext cx="1325880" cy="38404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444398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: Céline — J+3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0" cy="9601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PROCHAINES ÉTAPES IMMÉDIATES (Action Items)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347472"/>
          </a:xfrm>
          <a:prstGeom prst="rect">
            <a:avLst/>
          </a:prstGeom>
          <a:solidFill>
            <a:srgbClr val="00008F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7899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37760" y="107899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Responsable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0" y="107899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Échéance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09560" y="1078992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490472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490472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techniquement l'accès aux données SSI et obtenir questionnaires exemples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490472"/>
            <a:ext cx="1508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ABDI Ibrahim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1490472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18704" y="1581912"/>
            <a:ext cx="804672" cy="32918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18704" y="1581912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057400"/>
            <a:ext cx="8412480" cy="512064"/>
          </a:xfrm>
          <a:prstGeom prst="rect">
            <a:avLst/>
          </a:prstGeom>
          <a:solidFill>
            <a:srgbClr val="D6E4F7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057400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définitivement le périmètre outil (compliance finale vs. shortlisting)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057400"/>
            <a:ext cx="1508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ALBY Céline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2057400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18704" y="2148840"/>
            <a:ext cx="804672" cy="32918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18704" y="214884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2624328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624328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Clarifier procédures d'échange d'informations avec les sous-traitants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2624328"/>
            <a:ext cx="1508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MADI WAMBA Gilles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0" y="2624328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J+10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18704" y="2715768"/>
            <a:ext cx="804672" cy="32918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18704" y="271576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PLANIFIÉ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3191256"/>
            <a:ext cx="8412480" cy="512064"/>
          </a:xfrm>
          <a:prstGeom prst="rect">
            <a:avLst/>
          </a:prstGeom>
          <a:solidFill>
            <a:srgbClr val="D6E4F7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191256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et configurer l'outil de tracking de projet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3191256"/>
            <a:ext cx="1508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ALBY Céline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83680" y="3191256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918704" y="3282696"/>
            <a:ext cx="804672" cy="32918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18704" y="3282696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3758184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758184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 réunion synchronisation Phase 2 — Data Understanding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37760" y="3758184"/>
            <a:ext cx="1508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l'équipe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83680" y="3758184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J+7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918704" y="3849624"/>
            <a:ext cx="804672" cy="32918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18704" y="3849624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PLANIFIÉ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65760" y="4434840"/>
            <a:ext cx="8412480" cy="438912"/>
          </a:xfrm>
          <a:prstGeom prst="rect">
            <a:avLst/>
          </a:prstGeom>
          <a:solidFill>
            <a:srgbClr val="EAF2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4348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Prochaine réunion de synchronisation : Date &amp; heure à confirmer par l'équipe d'ici fin de semaine  |  Support : Teams / SharePoint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0D6B"/>
          </a:solidFill>
          <a:ln w="12700">
            <a:solidFill>
              <a:srgbClr val="0D0D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1A1A9A"/>
          </a:solidFill>
          <a:ln w="12700">
            <a:solidFill>
              <a:srgbClr val="1A1A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840480"/>
            <a:ext cx="621792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IA4DueDil — COPIL #1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Merci pour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votre attention.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Échanges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1719072" cy="1417320"/>
          </a:xfrm>
          <a:prstGeom prst="rect">
            <a:avLst/>
          </a:prstGeom>
          <a:solidFill>
            <a:srgbClr val="1A1A9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18688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E4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actuelle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511296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Kickoff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officiel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04288" y="3154680"/>
            <a:ext cx="1719072" cy="1417320"/>
          </a:xfrm>
          <a:prstGeom prst="rect">
            <a:avLst/>
          </a:prstGeom>
          <a:solidFill>
            <a:srgbClr val="1A1A9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04288" y="3218688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E4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Décisions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04288" y="3511296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D1 D2 D3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304288" y="4023360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 ce jour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51376" y="3154680"/>
            <a:ext cx="1719072" cy="1417320"/>
          </a:xfrm>
          <a:prstGeom prst="rect">
            <a:avLst/>
          </a:prstGeom>
          <a:solidFill>
            <a:srgbClr val="1A1A9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51376" y="3218688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E4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51376" y="3511296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J+5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151376" y="4023360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données validé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640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E4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Équipe Projet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10972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ALBY Céline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Lead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2048256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MADI WAMBA Gilles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SSI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2999232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ABDI Ibrahim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 IA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26480" y="3950208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NAULOT Vincent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Approbation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 IA4DueDil — AXA</dc:title>
  <dc:subject>PptxGenJS Presentation</dc:subject>
  <dc:creator>PptxGenJS</dc:creator>
  <cp:lastModifiedBy>PptxGenJS</cp:lastModifiedBy>
  <cp:revision>1</cp:revision>
  <dcterms:created xsi:type="dcterms:W3CDTF">2026-05-03T20:38:54Z</dcterms:created>
  <dcterms:modified xsi:type="dcterms:W3CDTF">2026-05-03T20:38:54Z</dcterms:modified>
</cp:coreProperties>
</file>